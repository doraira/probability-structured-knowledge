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6FD316-D287-41F2-BE94-3F5EC14B04F8}">
  <a:tblStyle styleId="{CD6FD316-D287-41F2-BE94-3F5EC14B04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10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6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15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7.png"/><Relationship Id="rId6" Type="http://schemas.openxmlformats.org/officeDocument/2006/relationships/image" Target="../media/image6.png"/><Relationship Id="rId7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6.png"/><Relationship Id="rId7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37.png"/><Relationship Id="rId6" Type="http://schemas.openxmlformats.org/officeDocument/2006/relationships/image" Target="../media/image6.png"/><Relationship Id="rId7" Type="http://schemas.openxmlformats.org/officeDocument/2006/relationships/image" Target="../media/image3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9" Type="http://schemas.openxmlformats.org/officeDocument/2006/relationships/image" Target="../media/image43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Relationship Id="rId7" Type="http://schemas.openxmlformats.org/officeDocument/2006/relationships/image" Target="../media/image42.png"/><Relationship Id="rId8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0985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Probability Foundations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5461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Turning Uncertainty into Logic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4293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828675" y="6296025"/>
            <a:ext cx="107918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Welcome everyone. Today we're going to build a mental toolkit to handle the unknown. We'll move step-by-step from "Why do we care?" to "How do we calculate it?"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28675" y="6505575"/>
            <a:ext cx="98964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Imagine standing in the fog. You can't see the destination. This is uncertainty. Before we move, we have to consider what *might* happen.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695872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Life is a Series of Unknowns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305472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rarely know exactly what will happen next. Will it rain? Will the stock market go up? Will you catch the bus?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52050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To navigate life, we must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think ahead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about all possible outcomes before we make a decision.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The Nature of Uncertainty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4293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28675" y="6296025"/>
            <a:ext cx="46958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 treat decisions like a weighing scale. Probability is simply the tool we use to read the weight on that scale.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400597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Is it worth it?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315307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manage uncertainty by asking two critical questions: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19856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We stop guessing and start quantifying.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76300" y="418629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4185344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What is the chance of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success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6300" y="452145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520505"/>
            <a:ext cx="4572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What is the chance of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failure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762000"/>
            <a:ext cx="52006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Evaluating Risk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1590675"/>
            <a:ext cx="4953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98551"/>
            <a:ext cx="3492549" cy="288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698551"/>
            <a:ext cx="3492549" cy="288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698551"/>
            <a:ext cx="3492549" cy="2889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93826"/>
            <a:ext cx="2901999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28675" y="6505575"/>
            <a:ext cx="7429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It's not just math homework. It's about predicting the future (imperfectly) to make better choices today.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94225" y="3803451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Predict Patterns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441305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Understand trends in data and weather.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72524" y="3803451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Compare Risks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645074" y="441305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Make rational choices, not emotional ones.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50824" y="3803451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Make Decisions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423374" y="441305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Choose the option with the best "odds".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0" y="307955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45699" y="307955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Why Study Probability?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295275" y="2808982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Checkpoint 1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392340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Uncertainty exists → We evaluate Risk → Probability is our Tool.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28675" y="6505575"/>
            <a:ext cx="51339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Let's pause. We've established the "Why." Now let's move to the "What."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41341"/>
            <a:ext cx="523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28675" y="6505575"/>
            <a:ext cx="76866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It's a translator. It takes vague words like "likely" or "rare" and turns them into precise numbers we can use.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773858"/>
            <a:ext cx="52387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"Probability is the numerical measure of how likely an event is to occur."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914400" y="4827091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Simple Translation: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What is Probability?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828675" y="6505575"/>
            <a:ext cx="60293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Think of an event as the "target" we are aiming for. Here, our target is the number 4.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326350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Event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is a specific outcome (or group of outcomes) that we are interested in.</a:t>
            </a:r>
            <a:endParaRPr/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876300" y="422052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52500" y="421957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Example 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Getting "Heads" on a coin.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76300" y="455568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52500" y="4554735"/>
            <a:ext cx="4857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Example B: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Rolling a "4" on a die.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5. What is an "Event"?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512641"/>
            <a:ext cx="523875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28675" y="6505575"/>
            <a:ext cx="70961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Sample Space is our "Universe." Nothing exists outside of it. For a die, "7" is not in the universe.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6381750" y="255656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Sample Space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is the list of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ALL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possible outcomes that could happen.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381750" y="5303341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If it's not in the sample space, it's impossible.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724650" y="3798391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For a Coin: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24650" y="4312741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For a Die: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6. Sample Space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53804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3053804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053804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828675" y="6505575"/>
            <a:ext cx="58959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We count from 0 to 1. 0 is "Never". 1 is "Always". Everything else lives in the middle.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94225" y="33871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66775" y="399677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Impossible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66775" y="4541490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Rolling a 7 on a standard die.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572524" y="33871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0.5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45074" y="399677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Uncertain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645074" y="4541490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Flipping a Coin (Heads/Tails).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350824" y="3387179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423374" y="3996779"/>
            <a:ext cx="2901999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Certain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423374" y="4541490"/>
            <a:ext cx="2901999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The sun rising in the East.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7. The Probability Scale (0 to 1)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21310"/>
            <a:ext cx="52387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828675" y="6505575"/>
            <a:ext cx="71056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Don't calculate yet, just look. Probability often starts with intuition—which color dominates the jar?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6381750" y="2255639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Which is more likely?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381750" y="286523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Look at the jar. If you pick one marble with your eyes closed: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724650" y="4107060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Question: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24650" y="4830960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Answer: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Interactive: Comparing Likelihood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3117275"/>
            <a:ext cx="9355651" cy="247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242366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How do we calculate the exact number?</a:t>
            </a:r>
            <a:endParaRPr/>
          </a:p>
        </p:txBody>
      </p:sp>
      <p:pic>
        <p:nvPicPr>
          <p:cNvPr descr="image.png" id="240" name="Google Shape;24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828675" y="6505575"/>
            <a:ext cx="81915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Memorize this: Part over Whole. The top is what you want to happen. The bottom is everything that could happen.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2057400" y="4495353"/>
            <a:ext cx="80772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FDBFE"/>
                </a:solidFill>
                <a:latin typeface="Open Sans"/>
                <a:ea typeface="Open Sans"/>
                <a:cs typeface="Open Sans"/>
                <a:sym typeface="Open Sans"/>
              </a:rPr>
              <a:t>Favorable = What you WANT.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BFDBFE"/>
                </a:solidFill>
                <a:latin typeface="Open Sans"/>
                <a:ea typeface="Open Sans"/>
                <a:cs typeface="Open Sans"/>
                <a:sym typeface="Open Sans"/>
              </a:rPr>
              <a:t> Total = What you HAVE.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8. The Formula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53197"/>
            <a:ext cx="5238750" cy="1012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828675" y="6505575"/>
            <a:ext cx="5467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Simplest example. One winner, two possibilities. 1 divided by 2 is 0.5, or 50%.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264467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Calculating P(Heads)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71500" y="319712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 Favorable: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Heads (1 side)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3532286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2. Total: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Heads + Tails (2 sides)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Example: Flipping a Coin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08499"/>
            <a:ext cx="5238750" cy="1022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828675" y="6505575"/>
            <a:ext cx="72199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Careful here. The top number of the fraction is NOT 4. It is 1. There is only ONE face that has a 4 on it.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6381750" y="219997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Calculating P(4)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6381750" y="5016400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Note: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Having a "4" on the face doesn't mean the top number is 4. The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count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is 1.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6381750" y="2752427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1. Favorable: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face "4" (1 face)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381750" y="3087588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2. Total: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{1, 2, 3, 4, 5, 6} (6 faces)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Example: Rolling a 4</a:t>
            </a:r>
            <a:endParaRPr/>
          </a:p>
        </p:txBody>
      </p:sp>
      <p:sp>
        <p:nvSpPr>
          <p:cNvPr id="275" name="Google Shape;275;p25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88878"/>
            <a:ext cx="52387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828675" y="6505575"/>
            <a:ext cx="10706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The coin doesn't care what the die does. They are independent. When we want BOTH, it gets harder, so the probability shrinks (we multiply fractions).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571500" y="232320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The "And" Rule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71500" y="2932807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Events are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Independent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if one happening does not change the other.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571500" y="5327153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Example: Coin Head (1/2) AND Die 6 (1/6) = 1/12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90500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914400" y="4174628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Open Sans"/>
                <a:ea typeface="Open Sans"/>
                <a:cs typeface="Open Sans"/>
                <a:sym typeface="Open Sans"/>
              </a:rPr>
              <a:t>Rule: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9. Independent Events</a:t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7" name="Google Shape;297;p27"/>
          <p:cNvGraphicFramePr/>
          <p:nvPr/>
        </p:nvGraphicFramePr>
        <p:xfrm>
          <a:off x="571500" y="22520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{CD6FD316-D287-41F2-BE94-3F5EC14B04F8}</a:tableStyleId>
              </a:tblPr>
              <a:tblGrid>
                <a:gridCol w="2704200"/>
                <a:gridCol w="4365425"/>
                <a:gridCol w="3979375"/>
              </a:tblGrid>
              <a:tr h="63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3A8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Concept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3A8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Idea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E3A8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Formula /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63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Event (A)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specific outcome we want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Subset of Sample Space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Sample Space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All possible outcomes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Probability P(A)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Likelihood of Event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(Impossible) to 1 (Certain)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The Formula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Part / Whole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P(A) = Favorable / 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Independent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Events don't affect each other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P(A and B) = P(A) × P(B)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298" name="Google Shape;2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53415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828675" y="6505575"/>
            <a:ext cx="7629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Here is your map. If you get lost, come back to this slide. Remember: Probability is just logic with numbers.</a:t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71500" y="2863453"/>
            <a:ext cx="2704207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3275707" y="2863453"/>
            <a:ext cx="4365426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7641133" y="2863453"/>
            <a:ext cx="3979366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571500" y="3508176"/>
            <a:ext cx="2704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3275707" y="3508176"/>
            <a:ext cx="4365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7641133" y="3508176"/>
            <a:ext cx="397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4138612"/>
            <a:ext cx="2704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3275707" y="4138612"/>
            <a:ext cx="4365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7641133" y="4138612"/>
            <a:ext cx="397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71500" y="4769048"/>
            <a:ext cx="2704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3275707" y="4769048"/>
            <a:ext cx="4365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7641133" y="4769048"/>
            <a:ext cx="397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71500" y="5399484"/>
            <a:ext cx="27042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3275707" y="5399484"/>
            <a:ext cx="4365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7641133" y="5399484"/>
            <a:ext cx="39793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Summary &amp; Cheat Sheet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/>
          <p:nvPr/>
        </p:nvSpPr>
        <p:spPr>
          <a:xfrm>
            <a:off x="571500" y="23748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71500" y="335771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571500" y="414248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571500" y="49272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571500" y="57120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00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1666875" y="154438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https://easy-peasy.ai/cdn-cgi/image/quality=95,format=auto,width=800/https://media.easy-peasy.ai/27feb2bb-aeb4-4a83-9fb6-8f3f2a15885e/eb5aef25-fe3a-499f-bc5b-ca799eed7ae2.png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666875" y="19881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easy-peasy.ai</a:t>
            </a:r>
            <a:endParaRPr/>
          </a:p>
        </p:txBody>
      </p:sp>
      <p:pic>
        <p:nvPicPr>
          <p:cNvPr descr="image.png" id="330" name="Google Shape;33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3291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8"/>
          <p:cNvSpPr txBox="1"/>
          <p:nvPr/>
        </p:nvSpPr>
        <p:spPr>
          <a:xfrm>
            <a:off x="1666875" y="25272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https://media.istockphoto.com/id/1432765838/vector/risk-vs-reward-balance-on-the-scale-balance-on-scale-business-concept-vector-stock.jpg?s=612x612&amp;w=0&amp;k=20&amp;c=jIb5Oc4ublm2WNHx6gZFeINsU-RdWOqo9HxBveo7U-w=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666875" y="29710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333" name="Google Shape;333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16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1666875" y="351011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https://mmerevise.co.uk/app/uploads/2019/07/probability-figure-1.png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1666875" y="37558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mmerevise.co.uk</a:t>
            </a:r>
            <a:endParaRPr/>
          </a:p>
        </p:txBody>
      </p:sp>
      <p:pic>
        <p:nvPicPr>
          <p:cNvPr descr="image.png" id="336" name="Google Shape;33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014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1666875" y="429488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http://www.mathartfun.com/shopsite_sc/store/html/Skewd6Num.jpg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1666875" y="45405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www.mathartfun.com</a:t>
            </a:r>
            <a:endParaRPr/>
          </a:p>
        </p:txBody>
      </p:sp>
      <p:pic>
        <p:nvPicPr>
          <p:cNvPr descr="image.png" id="339" name="Google Shape;33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862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1666875" y="50796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https://media.geeksforgeeks.org/wp-content/uploads/20240111124220/ht.png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1666875" y="53253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www.geeksforgeeks.org</a:t>
            </a:r>
            <a:endParaRPr/>
          </a:p>
        </p:txBody>
      </p:sp>
      <p:pic>
        <p:nvPicPr>
          <p:cNvPr descr="image.png" id="342" name="Google Shape;342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9700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1666875" y="586442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https://blogger.googleusercontent.com/img/b/R29vZ2xl/AVvXsEgDIM6dKMzhRfipuyEHeiBrJPpNjLDhigtAScZ6eujQok2hnSeAzlbnfRIVjiZ1GYlubLB9I-Im7HYmqtBZwldhE8Z-SDSixWzZVm94f4ZbUEsOWbsLwe_wR6rSNus3HwtKe3qmWo0v6O4/s640/9loyS71351085364.jpg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1666875" y="63082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allaboutpuzzles.blogspot.com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571500" y="163264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571500" y="991939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9"/>
          <p:cNvSpPr txBox="1"/>
          <p:nvPr/>
        </p:nvSpPr>
        <p:spPr>
          <a:xfrm>
            <a:off x="1666875" y="370433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https://media.istockphoto.com/id/184222242/photo/close-up-photo-of-a-hand-flipping-a-coin-in-mid-air.jpg?s=1024x1024&amp;w=is&amp;k=20&amp;c=KwQ7ry6B5xgVny2lckHXz2tKhtAM8aJVNrf_H8in5eA=</a:t>
            </a:r>
            <a:endParaRPr/>
          </a:p>
        </p:txBody>
      </p:sp>
      <p:sp>
        <p:nvSpPr>
          <p:cNvPr id="354" name="Google Shape;354;p29"/>
          <p:cNvSpPr txBox="1"/>
          <p:nvPr/>
        </p:nvSpPr>
        <p:spPr>
          <a:xfrm>
            <a:off x="1666875" y="414813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sp>
        <p:nvSpPr>
          <p:cNvPr id="355" name="Google Shape;355;p2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56" name="Google Shape;356;p29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